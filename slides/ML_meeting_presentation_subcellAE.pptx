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1097280"/>
          </a:xfrm>
          <a:prstGeom prst="rect">
            <a:avLst/>
          </a:prstGeom>
          <a:solidFill>
            <a:srgbClr val="0E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SubCellAE — ML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CCDDFF"/>
                </a:solidFill>
              </a:rPr>
              <a:t>Where We Stand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AACCFF"/>
                </a:solidFill>
              </a:rPr>
              <a:t>Can we use autoencoders to predict FA type and subcellular position
from fluorescence microscopy patches?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Data Are We Looking At?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573008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4A7A"/>
                </a:solidFill>
              </a:rPr>
              <a:t>Experimental conditions: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333333"/>
                </a:solidFill>
              </a:rPr>
              <a:t>• Control — unperturbed cells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333333"/>
                </a:solidFill>
              </a:rPr>
              <a:t>• Y-comp — Y-27632 (Rho kinase inhibitor)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965960"/>
          <a:ext cx="5730087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4724247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Channel</a:t>
                      </a:r>
                    </a:p>
                  </a:txBody>
                  <a:tcPr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Marker</a:t>
                      </a:r>
                    </a:p>
                  </a:txBody>
                  <a:tcPr>
                    <a:solidFill>
                      <a:srgbClr val="1A4A7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Ch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Paxillin (PAX) — primary FA marker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Ch 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eGFP-Zyxin (Z)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Ch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Phalloidin / Actin (A)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Ch 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Vinculin (V)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3566160"/>
            <a:ext cx="57300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8888"/>
                </a:solidFill>
              </a:rPr>
              <a:t>Imaging: Multi-channel .czi fluorescence microscopy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87287" y="960120"/>
            <a:ext cx="5730087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4A7A"/>
                </a:solidFill>
              </a:rPr>
              <a:t>FA type (5 classes):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</a:rPr>
              <a:t>• Nascent Adhesion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</a:rPr>
              <a:t>• Focal Complex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</a:rPr>
              <a:t>• Focal Adhesion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</a:rPr>
              <a:t>• Fibrillar Adhesion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</a:rPr>
              <a:t>• No Adhesion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287" y="2560320"/>
            <a:ext cx="5730087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4A7A"/>
                </a:solidFill>
              </a:rPr>
              <a:t>Position (4 classes):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</a:rPr>
              <a:t>• Cell Protruding Edge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</a:rPr>
              <a:t>• Cell Periphery/other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</a:rPr>
              <a:t>• Lamella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</a:rPr>
              <a:t>• Cell Body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7287" y="3886200"/>
            <a:ext cx="573008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Scale: ~5,800 patches per condition
~60 manually labelled patches (new validation set)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Normalization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14601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DFF"/>
                </a:solidFill>
              </a:rPr>
              <a:t>Per-dataset percentile stretch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772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600">
                <a:solidFill>
                  <a:srgbClr val="333333"/>
                </a:solidFill>
              </a:rPr>
              <a:t>• Compute 0.2nd–99.8th percentile intensity across all images in the same condition set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333333"/>
                </a:solidFill>
              </a:rPr>
              <a:t>• Apply a single linear mapping:  I_norm = clip( (I − p_low) / (p_high − p_low),  0, 1 )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333333"/>
                </a:solidFill>
              </a:rPr>
              <a:t>• Applied uniformly → all images share the same intensity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97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4A7A"/>
                </a:solidFill>
              </a:rPr>
              <a:t>Why this approximates per-cell normalization: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59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600">
                <a:solidFill>
                  <a:srgbClr val="333333"/>
                </a:solidFill>
              </a:rPr>
              <a:t>• Cells tend to fill the field of view → dataset percentiles are driven by cell signal, not background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333333"/>
                </a:solidFill>
              </a:rPr>
              <a:t>• Avoids patch-to-patch intensity variation that would confuse the AE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069080"/>
            <a:ext cx="11277295" cy="777240"/>
          </a:xfrm>
          <a:prstGeom prst="rect">
            <a:avLst/>
          </a:prstGeom>
          <a:solidFill>
            <a:srgbClr val="FFF8E1"/>
          </a:solidFill>
          <a:ln w="9525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4142232"/>
            <a:ext cx="11057839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5A4000"/>
                </a:solidFill>
              </a:rPr>
              <a:t>Optional pre-step (all modes): Rolling Ball Background Subtraction
img = img − rolling_ball(img, radius=10)  ·  Removes slow background variation  ·  Percentile stats re-computed on RB-corrected pixels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983479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8888"/>
                </a:solidFill>
              </a:rPr>
              <a:t>Current scope: normalization applied to the paxillin channel only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Autoencoder — Basic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5684367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4A7A"/>
                </a:solidFill>
              </a:rPr>
              <a:t>Patch extraction: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</a:rPr>
              <a:t>• Size: 32 × 32 pixels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</a:rPr>
              <a:t>• Grid-based, inside cell mask (≥ 40% overlap)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</a:rPr>
              <a:t>• Padded image (64 px) → deterministic coordinates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331720"/>
            <a:ext cx="5684367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4A7A"/>
                </a:solidFill>
              </a:rPr>
              <a:t>Architecture: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</a:rPr>
              <a:t>• 3× Conv encoder → 8-dim latent z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</a:rPr>
              <a:t>• 3× ConvTranspose decoder → Hardtanh [0,1] output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</a:rPr>
              <a:t>• Single channel input (paxillin)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41567" y="960120"/>
            <a:ext cx="5684367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4A7A"/>
                </a:solidFill>
              </a:rPr>
              <a:t>Training: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</a:rPr>
              <a:t>• Group-aware 80/20 split — all patches from same image stay together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</a:rPr>
              <a:t>• Adam optimizer, LR = 0.001, cosine decay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</a:rPr>
              <a:t>• Batch = 128, up to 500 epochs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41567" y="2331720"/>
            <a:ext cx="5684367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4A7A"/>
                </a:solidFill>
              </a:rPr>
              <a:t>Additional features: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</a:rPr>
              <a:t>• 8 distance-to-cell-edge features (d00–d07, rotation-invariant)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</a:rPr>
              <a:t>• Used as optional supplement to latent features in downstream classifier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Research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4A7A"/>
                </a:solidFill>
              </a:rPr>
              <a:t>Can we use an autoencoder to predict FA type and subcellular position?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Approach: Train AE on all patches → extract 8-dim latent z → train LightGBM classifier on z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240280"/>
          <a:ext cx="1127729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351215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Strategy</a:t>
                      </a:r>
                    </a:p>
                  </a:txBody>
                  <a:tcPr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Idea</a:t>
                      </a:r>
                    </a:p>
                  </a:txBody>
                  <a:tcPr>
                    <a:solidFill>
                      <a:srgbClr val="1A4A7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Baseline 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Pure reconstruction — latent organizes by image content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Semi-supervised AE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Add classification head during AE training using labelled patches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Contrastive 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Pull augmented views of the same patch together (NT-Xent loss)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Supervised Contrastive AE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Like contrastive, but same-class patches are positive pairs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25196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Feature sets:   lat8  (latent only)   ·   lat8 + dist8  (latent + 8 distance features)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Classifier Train/Val Split — Two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5684367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4A7A"/>
                </a:solidFill>
              </a:rPr>
              <a:t>from_csv (group-aware):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333333"/>
                </a:solidFill>
              </a:rPr>
              <a:t>• The split column in latents.csv is set during AE training: all patches from the same image file go to the same split (80% train / 20% val)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333333"/>
                </a:solidFill>
              </a:rPr>
              <a:t>• Classifier inherits this split exactly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333333"/>
                </a:solidFill>
              </a:rPr>
              <a:t>• No image-level leakage: train and val patches come from different microscopy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41567" y="960120"/>
            <a:ext cx="5684367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4A7A"/>
                </a:solidFill>
              </a:rPr>
              <a:t>stratified (random):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333333"/>
                </a:solidFill>
              </a:rPr>
              <a:t>• A fresh stratified random split is drawn on individual patches, ignoring image origin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333333"/>
                </a:solidFill>
              </a:rPr>
              <a:t>• Patches from the same image can appear in both train and 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41567" y="2606040"/>
            <a:ext cx="5684367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4A7A"/>
                </a:solidFill>
              </a:rPr>
              <a:t>Information leakage risk: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333333"/>
                </a:solidFill>
              </a:rPr>
              <a:t>• Patches from the same cell image share: global illumination, cell shape, correlated local textures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333333"/>
                </a:solidFill>
              </a:rPr>
              <a:t>• With stratified split, the classifier can memorize image-level cues rather than FA morphology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4160520"/>
            <a:ext cx="11460175" cy="777240"/>
          </a:xfrm>
          <a:prstGeom prst="rect">
            <a:avLst/>
          </a:prstGeom>
          <a:solidFill>
            <a:srgbClr val="FFF8E1"/>
          </a:solidFill>
          <a:ln w="9525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4233672"/>
            <a:ext cx="11240719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5A4000"/>
                </a:solidFill>
              </a:rPr>
              <a:t>Consequence: stratified validation accuracy is optimistically biased — the model appears to perform well but may fail on new experiments (e.g. Dy2).  from_csv gives a more honest estimate of cross-image generalization.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CCDDFF"/>
                </a:solidFill>
              </a:rPr>
              <a:t>Using Paxillin Only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Paxillin Only — Training Set Performance  (lat8)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14601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DFF"/>
                </a:solidFill>
              </a:rPr>
              <a:t>Accuracy on held-out validation split (same experiment as training)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34440"/>
          <a:ext cx="92354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560320"/>
                <a:gridCol w="2560320"/>
              </a:tblGrid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Position</a:t>
                      </a:r>
                    </a:p>
                  </a:txBody>
                  <a:tcPr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FA Classification</a:t>
                      </a:r>
                    </a:p>
                  </a:txBody>
                  <a:tcPr>
                    <a:solidFill>
                      <a:srgbClr val="1A4A7A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Baseline 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64%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SemiSup AE (FA only)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60%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92%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SemiSup AE (FA + Pos)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Contrastive AE (NT-Xent)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58%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41%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SupCon AE (+ flips)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SupCon AE (noise only)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54%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41%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3794760"/>
            <a:ext cx="11277295" cy="685800"/>
          </a:xfrm>
          <a:prstGeom prst="rect">
            <a:avLst/>
          </a:prstGeom>
          <a:solidFill>
            <a:srgbClr val="FFF8E1"/>
          </a:solidFill>
          <a:ln w="9525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3867912"/>
            <a:ext cx="11057839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5A4000"/>
                </a:solidFill>
              </a:rPr>
              <a:t>SemiSup models trained on this dataset — high accuracy expected. Contrastive models receive no label supervision → lower classification accuracy but potentially better generalization.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Paxillin Only — New Data Validation  (Dy2, lat8)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14601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DFF"/>
                </a:solidFill>
              </a:rPr>
              <a:t>Apply frozen trained models to new control images (Dy2 dataset) — 60 manually labelled patches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34440"/>
          <a:ext cx="92354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560320"/>
                <a:gridCol w="2560320"/>
              </a:tblGrid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Position (Dy2)</a:t>
                      </a:r>
                    </a:p>
                  </a:txBody>
                  <a:tcPr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FA Classification (Dy2)</a:t>
                      </a:r>
                    </a:p>
                  </a:txBody>
                  <a:tcPr>
                    <a:solidFill>
                      <a:srgbClr val="1A4A7A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Baseline 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SemiSup AE (FA only)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35%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37%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SemiSup AE (FA + Pos)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Contrastive AE (NT-Xent)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i="1">
                          <a:solidFill>
                            <a:srgbClr val="888888"/>
                          </a:solidFill>
                        </a:rPr>
                        <a:t>pending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i="1">
                          <a:solidFill>
                            <a:srgbClr val="888888"/>
                          </a:solidFill>
                        </a:rPr>
                        <a:t>pending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SupCon AE (+ flips)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i="1">
                          <a:solidFill>
                            <a:srgbClr val="888888"/>
                          </a:solidFill>
                        </a:rPr>
                        <a:t>pending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i="1">
                          <a:solidFill>
                            <a:srgbClr val="888888"/>
                          </a:solidFill>
                        </a:rPr>
                        <a:t>pending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SupCon AE (noise only)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i="1">
                          <a:solidFill>
                            <a:srgbClr val="888888"/>
                          </a:solidFill>
                        </a:rPr>
                        <a:t>pending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i="1">
                          <a:solidFill>
                            <a:srgbClr val="888888"/>
                          </a:solidFill>
                        </a:rPr>
                        <a:t>pending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3794760"/>
            <a:ext cx="11277295" cy="502920"/>
          </a:xfrm>
          <a:prstGeom prst="rect">
            <a:avLst/>
          </a:prstGeom>
          <a:solidFill>
            <a:srgbClr val="FFF8E1"/>
          </a:solidFill>
          <a:ln w="9525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3867912"/>
            <a:ext cx="11057839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5A4000"/>
                </a:solidFill>
              </a:rPr>
              <a:t>Semi-supervised models show a large drop from training to new data — see notes slide.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Paxillin Only — Combined 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60120"/>
          <a:ext cx="104241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920240"/>
                <a:gridCol w="1920240"/>
                <a:gridCol w="1920240"/>
                <a:gridCol w="1920240"/>
              </a:tblGrid>
              <a:tr h="31350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Pos (train)</a:t>
                      </a:r>
                    </a:p>
                  </a:txBody>
                  <a:tcPr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FA (train)</a:t>
                      </a:r>
                    </a:p>
                  </a:txBody>
                  <a:tcPr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Pos (Dy2)</a:t>
                      </a:r>
                    </a:p>
                  </a:txBody>
                  <a:tcPr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FA (Dy2)</a:t>
                      </a:r>
                    </a:p>
                  </a:txBody>
                  <a:tcPr>
                    <a:solidFill>
                      <a:srgbClr val="1A4A7A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Baseline 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64%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SemiSup (FA)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60%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92%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35%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37%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SemiSup (Both)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Contrastive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58%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41%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i="1">
                          <a:solidFill>
                            <a:srgbClr val="888888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i="1">
                          <a:solidFill>
                            <a:srgbClr val="888888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SupCon + flips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i="1">
                          <a:solidFill>
                            <a:srgbClr val="888888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i="1">
                          <a:solidFill>
                            <a:srgbClr val="888888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1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SupCon no flip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54%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41%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i="1">
                          <a:solidFill>
                            <a:srgbClr val="888888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i="1">
                          <a:solidFill>
                            <a:srgbClr val="888888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3375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4A7A"/>
                </a:solidFill>
              </a:rPr>
              <a:t>Adding distance features  (lat8 + dist8) — training set: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794760"/>
          <a:ext cx="6858000" cy="86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</a:tblGrid>
              <a:tr h="2895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Position</a:t>
                      </a:r>
                    </a:p>
                  </a:txBody>
                  <a:tcPr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FA Classification</a:t>
                      </a:r>
                    </a:p>
                  </a:txBody>
                  <a:tcPr>
                    <a:solidFill>
                      <a:srgbClr val="1A4A7A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Baseline 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SemiSup (Both)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94%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94%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8006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33333"/>
                </a:solidFill>
              </a:rPr>
              <a:t>Distance features improve Baseline position by +12 pp;  SemiSup unchanged.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Notes — Semi-Supervised AE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4A7A"/>
                </a:solidFill>
              </a:rPr>
              <a:t>Training setup: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</a:rPr>
              <a:t>• Two classification heads on top of shared encoder: FA type + subcellular position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</a:rPr>
              <a:t>• Classification loss active only on labelled patches (~20% of training set)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</a:rPr>
              <a:t>• Two-phase training: 200 epochs reconstruction-only warmup, then classification heads activated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</a:rPr>
              <a:t>• Loss:  λ_recon · MSE  +  λ_cls · CE(FA)  +  λ_cls_2 · CE(Position)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4A7A"/>
                </a:solidFill>
              </a:rPr>
              <a:t>Why the large train → Dy2 gap?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291840"/>
            <a:ext cx="11277295" cy="914400"/>
          </a:xfrm>
          <a:prstGeom prst="rect">
            <a:avLst/>
          </a:prstGeom>
          <a:solidFill>
            <a:srgbClr val="FFF8E1"/>
          </a:solidFill>
          <a:ln w="9525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3364992"/>
            <a:ext cx="11057839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5A4000"/>
                </a:solidFill>
              </a:rPr>
              <a:t>The reference run (test_run_overfit_20260322) was intentionally set up to probe overfitting. The model has seen training images many times with label supervision — the latent space is shaped around those specific cells. On new images from a different imaging session, the class structure does not transfer cleanly.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112772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4A7A"/>
                </a:solidFill>
              </a:rPr>
              <a:t>Next steps: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</a:rPr>
              <a:t>• Test with stricter regularization / lower lambda_cls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</a:rPr>
              <a:t>• Compare against baseline on more new-data images (currently only 60 labelled patches)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</a:rPr>
              <a:t>• Run contrastive variants on Dy2 to see if unsupervised methods generalize better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Multi-Channel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CCDDFF"/>
                </a:solidFill>
              </a:rPr>
              <a:t>(In Progress)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Paxillin + Actin (Ch1 + Ch3) — Training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14601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DFF"/>
                </a:solidFill>
              </a:rPr>
              <a:t>16-dimensional latent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54720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4A7A"/>
                </a:solidFill>
              </a:rPr>
              <a:t>Latent only (lat16):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00200"/>
          <a:ext cx="54864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  <a:gridCol w="1371600"/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Position</a:t>
                      </a:r>
                    </a:p>
                  </a:txBody>
                  <a:tcPr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FA Cls.</a:t>
                      </a:r>
                    </a:p>
                  </a:txBody>
                  <a:tcPr>
                    <a:solidFill>
                      <a:srgbClr val="1A4A7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Baseline 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SemiSup (FA only)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49%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17%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SemiSup (Pos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SemiSup (FA + Pos)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51%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25%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87287" y="1188720"/>
            <a:ext cx="554720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4A7A"/>
                </a:solidFill>
              </a:rPr>
              <a:t>Latent + distance (lat16 + dist8):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87287.5" y="1600200"/>
          <a:ext cx="54864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  <a:gridCol w="1371600"/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Position</a:t>
                      </a:r>
                    </a:p>
                  </a:txBody>
                  <a:tcPr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FA Cls.</a:t>
                      </a:r>
                    </a:p>
                  </a:txBody>
                  <a:tcPr>
                    <a:solidFill>
                      <a:srgbClr val="1A4A7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Baseline 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72%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SemiSup (FA only)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75%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39%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SemiSup (Pos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SemiSup (FA + Pos)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69%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36%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3383280"/>
            <a:ext cx="11277295" cy="777240"/>
          </a:xfrm>
          <a:prstGeom prst="rect">
            <a:avLst/>
          </a:prstGeom>
          <a:solidFill>
            <a:srgbClr val="FFF8E1"/>
          </a:solidFill>
          <a:ln w="9525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3456432"/>
            <a:ext cx="11057839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5A4000"/>
                </a:solidFill>
              </a:rPr>
              <a:t>Distance features give +14 pp position boost for Baseline (58→72%).  FA accuracy remains low (~44%) — actin channel does not add FA-type signal.  Dy2 new-data validation: pending.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Paxillin + Zyxin  /  Paxillin + Vinculin — Pending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4A7A"/>
                </a:solidFill>
              </a:rPr>
              <a:t>Paxillin + Zyxin (Ch1 + Ch2):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17320"/>
          <a:ext cx="1024128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828800"/>
                <a:gridCol w="1828800"/>
                <a:gridCol w="1828800"/>
                <a:gridCol w="1828800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Position</a:t>
                      </a:r>
                    </a:p>
                  </a:txBody>
                  <a:tcPr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FA Cls.</a:t>
                      </a:r>
                    </a:p>
                  </a:txBody>
                  <a:tcPr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Pos (Dy2)</a:t>
                      </a:r>
                    </a:p>
                  </a:txBody>
                  <a:tcPr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FA (Dy2)</a:t>
                      </a:r>
                    </a:p>
                  </a:txBody>
                  <a:tcPr>
                    <a:solidFill>
                      <a:srgbClr val="1A4A7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Baseline 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i="1">
                          <a:solidFill>
                            <a:srgbClr val="888888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i="1">
                          <a:solidFill>
                            <a:srgbClr val="888888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i="1">
                          <a:solidFill>
                            <a:srgbClr val="888888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i="1">
                          <a:solidFill>
                            <a:srgbClr val="888888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SemiSup (FA only)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i="1">
                          <a:solidFill>
                            <a:srgbClr val="888888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i="1">
                          <a:solidFill>
                            <a:srgbClr val="888888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i="1">
                          <a:solidFill>
                            <a:srgbClr val="888888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i="1">
                          <a:solidFill>
                            <a:srgbClr val="888888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SemiSup (FA + Pos)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i="1">
                          <a:solidFill>
                            <a:srgbClr val="888888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i="1">
                          <a:solidFill>
                            <a:srgbClr val="888888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i="1">
                          <a:solidFill>
                            <a:srgbClr val="888888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i="1">
                          <a:solidFill>
                            <a:srgbClr val="888888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Contrastive AE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i="1">
                          <a:solidFill>
                            <a:srgbClr val="888888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i="1">
                          <a:solidFill>
                            <a:srgbClr val="888888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i="1">
                          <a:solidFill>
                            <a:srgbClr val="888888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i="1">
                          <a:solidFill>
                            <a:srgbClr val="888888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0175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4A7A"/>
                </a:solidFill>
              </a:rPr>
              <a:t>Paxillin + Vinculin (Ch1 + Ch4):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429000"/>
          <a:ext cx="1024128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828800"/>
                <a:gridCol w="1828800"/>
                <a:gridCol w="1828800"/>
                <a:gridCol w="1828800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Position</a:t>
                      </a:r>
                    </a:p>
                  </a:txBody>
                  <a:tcPr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FA Cls.</a:t>
                      </a:r>
                    </a:p>
                  </a:txBody>
                  <a:tcPr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Pos (Dy2)</a:t>
                      </a:r>
                    </a:p>
                  </a:txBody>
                  <a:tcPr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FA (Dy2)</a:t>
                      </a:r>
                    </a:p>
                  </a:txBody>
                  <a:tcPr>
                    <a:solidFill>
                      <a:srgbClr val="1A4A7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Baseline 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i="1">
                          <a:solidFill>
                            <a:srgbClr val="888888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i="1">
                          <a:solidFill>
                            <a:srgbClr val="888888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i="1">
                          <a:solidFill>
                            <a:srgbClr val="888888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i="1">
                          <a:solidFill>
                            <a:srgbClr val="888888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SemiSup (FA only)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i="1">
                          <a:solidFill>
                            <a:srgbClr val="888888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i="1">
                          <a:solidFill>
                            <a:srgbClr val="888888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i="1">
                          <a:solidFill>
                            <a:srgbClr val="888888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i="1">
                          <a:solidFill>
                            <a:srgbClr val="888888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SemiSup (FA + Pos)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i="1">
                          <a:solidFill>
                            <a:srgbClr val="888888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i="1">
                          <a:solidFill>
                            <a:srgbClr val="888888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i="1">
                          <a:solidFill>
                            <a:srgbClr val="888888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i="1">
                          <a:solidFill>
                            <a:srgbClr val="888888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Contrastive AE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i="1">
                          <a:solidFill>
                            <a:srgbClr val="888888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i="1">
                          <a:solidFill>
                            <a:srgbClr val="888888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i="1">
                          <a:solidFill>
                            <a:srgbClr val="888888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i="1">
                          <a:solidFill>
                            <a:srgbClr val="888888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Where We Stand — 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60120"/>
          <a:ext cx="112471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5029200"/>
                <a:gridCol w="3657600"/>
              </a:tblGrid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Done</a:t>
                      </a:r>
                    </a:p>
                  </a:txBody>
                  <a:tcPr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In progress</a:t>
                      </a:r>
                    </a:p>
                  </a:txBody>
                  <a:tcPr>
                    <a:solidFill>
                      <a:srgbClr val="1A4A7A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Paxillin-only pipeline, patch extraction, normalization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Multi-channel (P+Z, P+V) runs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Models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Baseline, SemiSup (FA/Pos/Both), Contrastive, SupCon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Hyperparameter tuning; contrastive Dy2 eval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Training eval (pax)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All 6 variants × lat8 + lat8dist8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i="1">
                          <a:solidFill>
                            <a:srgbClr val="888888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Training eval (P+A)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Baseline + SemiSup × lat16 + lat16dist8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P+Z, P+V; contrastive multichannel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New-data (Dy2)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Baseline + SemiSup (paxillin-only)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All multichannel; more labelled patches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24612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4A7A"/>
                </a:solidFill>
              </a:rPr>
              <a:t>Key findings so far: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333333"/>
                </a:solidFill>
              </a:rPr>
              <a:t>• SemiSup AE achieves high training accuracy (92–95%) but does not generalize to Dy2 in the overfit test run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333333"/>
                </a:solidFill>
              </a:rPr>
              <a:t>• Baseline AE (no label supervision) is more consistent across train and Dy2  (~47–64%)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333333"/>
                </a:solidFill>
              </a:rPr>
              <a:t>• Distance-to-edge features consistently help position accuracy  (+12–14 pp across all models)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333333"/>
                </a:solidFill>
              </a:rPr>
              <a:t>• P+A multichannel: position similar to paxillin-only baseline, FA accuracy lower (44% vs 62%) — actin doesn't add FA-type signal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212080"/>
            <a:ext cx="11277295" cy="594360"/>
          </a:xfrm>
          <a:prstGeom prst="rect">
            <a:avLst/>
          </a:prstGeom>
          <a:solidFill>
            <a:srgbClr val="FFF8E1"/>
          </a:solidFill>
          <a:ln w="9525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285232"/>
            <a:ext cx="11057839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5A4000"/>
                </a:solidFill>
              </a:rPr>
              <a:t>Open question: Is the train→Dy2 drop a fundamental limitation of semi-supervision, or can we fix it with better regularization / more labelled data?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CCDDFF"/>
                </a:solidFill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