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Distance-to-Edge Feature Vector (dist8)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700" b="1" i="0">
                <a:solidFill>
                  <a:srgbClr val="1A4A7A"/>
                </a:solidFill>
                <a:latin typeface="Arial"/>
              </a:rPr>
              <a:t>What it encodes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Arial"/>
              </a:rPr>
              <a:t>Each patch center casts </a:t>
            </a:r>
            <a:r>
              <a:rPr sz="1600" b="1" i="0">
                <a:solidFill>
                  <a:srgbClr val="333333"/>
                </a:solidFill>
                <a:latin typeface="Arial"/>
              </a:rPr>
              <a:t>8 rays</a:t>
            </a:r>
            <a:r>
              <a:rPr sz="1600" b="0" i="0">
                <a:solidFill>
                  <a:srgbClr val="333333"/>
                </a:solidFill>
                <a:latin typeface="Arial"/>
              </a:rPr>
              <a:t> at evenly-spaced angles (0°, 45°, 90°, …, 315°) outward through the cell mask, recording the pixel distance to the nearest cell boundary in each direction.</a:t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4A7A"/>
                </a:solidFill>
                <a:latin typeface="Arial"/>
              </a:rPr>
              <a:t>Rotation invariance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Arial"/>
              </a:rPr>
              <a:t>The 8 distances are </a:t>
            </a:r>
            <a:r>
              <a:rPr sz="1600" b="1" i="0">
                <a:solidFill>
                  <a:srgbClr val="333333"/>
                </a:solidFill>
                <a:latin typeface="Arial"/>
              </a:rPr>
              <a:t>cyclically shifted</a:t>
            </a:r>
            <a:r>
              <a:rPr sz="1600" b="0" i="0">
                <a:solidFill>
                  <a:srgbClr val="333333"/>
                </a:solidFill>
                <a:latin typeface="Arial"/>
              </a:rPr>
              <a:t> so that the direction of minimum distance is always placed first (d00). This makes the feature independent of cell orientation.</a:t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4A7A"/>
                </a:solidFill>
                <a:latin typeface="Arial"/>
              </a:rPr>
              <a:t>Result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Arial"/>
              </a:rPr>
              <a:t>An 8-dimensional vector [d00, d01, …, d07] where:</a:t>
            </a:r>
          </a:p>
          <a:p>
            <a:pPr lvl="1">
              <a:spcBef>
                <a:spcPts val="200"/>
              </a:spcBef>
            </a:pPr>
            <a:r>
              <a:rPr sz="1500" b="0" i="0">
                <a:solidFill>
                  <a:srgbClr val="333333"/>
                </a:solidFill>
                <a:latin typeface="Arial"/>
              </a:rPr>
              <a:t>• d00 = shortest ray (closest edge)</a:t>
            </a:r>
          </a:p>
          <a:p>
            <a:pPr lvl="1">
              <a:spcBef>
                <a:spcPts val="200"/>
              </a:spcBef>
            </a:pPr>
            <a:r>
              <a:rPr sz="1500" b="0" i="0">
                <a:solidFill>
                  <a:srgbClr val="333333"/>
                </a:solidFill>
                <a:latin typeface="Arial"/>
              </a:rPr>
              <a:t>• d04 ≈ ray roughly opposite to d00</a:t>
            </a:r>
          </a:p>
          <a:p>
            <a:pPr>
              <a:spcBef>
                <a:spcPts val="1000"/>
              </a:spcBef>
            </a:pPr>
            <a:r>
              <a:rPr sz="1700" b="1" i="0">
                <a:solidFill>
                  <a:srgbClr val="1A4A7A"/>
                </a:solidFill>
                <a:latin typeface="Arial"/>
              </a:rPr>
              <a:t>Used as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Arial"/>
              </a:rPr>
              <a:t>Supplement to the AE latent z for LightGBM classification — combined as </a:t>
            </a:r>
            <a:r>
              <a:rPr sz="1600" b="1" i="0">
                <a:solidFill>
                  <a:srgbClr val="333333"/>
                </a:solidFill>
                <a:latin typeface="Courier New"/>
              </a:rPr>
              <a:t>lat8 + dist8</a:t>
            </a:r>
            <a:r>
              <a:rPr sz="1600" b="0" i="0">
                <a:solidFill>
                  <a:srgbClr val="333333"/>
                </a:solidFill>
                <a:latin typeface="Arial"/>
              </a:rPr>
              <a:t>  or  </a:t>
            </a:r>
            <a:r>
              <a:rPr sz="1600" b="1" i="0">
                <a:solidFill>
                  <a:srgbClr val="333333"/>
                </a:solidFill>
                <a:latin typeface="Courier New"/>
              </a:rPr>
              <a:t>lat16 + dist8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600" y="731520"/>
            <a:ext cx="4693615" cy="1828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841248"/>
            <a:ext cx="4419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     d02  d01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      |  /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d03 --•-- d00  ← min (always d00)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      |  \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     d04  d07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       ↓</a:t>
            </a:r>
          </a:p>
          <a:p>
            <a:pPr>
              <a:spcBef>
                <a:spcPts val="0"/>
              </a:spcBef>
            </a:pPr>
            <a:r>
              <a:rPr sz="1300" b="0" i="0">
                <a:solidFill>
                  <a:srgbClr val="222222"/>
                </a:solidFill>
                <a:latin typeface="Courier New"/>
              </a:rPr>
              <a:t>     cell boundary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86600" y="2743200"/>
          <a:ext cx="4693614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956"/>
                <a:gridCol w="319165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>
                    <a:solidFill>
                      <a:srgbClr val="1A4A7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ourier New"/>
                        </a:rPr>
                        <a:t>d00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distance to nearest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ourier New"/>
                        </a:rPr>
                        <a:t>d01–d03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distances at +45°, +90°, +135°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ourier New"/>
                        </a:rPr>
                        <a:t>d04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distance to opposite 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ourier New"/>
                        </a:rPr>
                        <a:t>d05–d07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remaining directions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086600" y="4480560"/>
            <a:ext cx="4693615" cy="2240280"/>
          </a:xfrm>
          <a:prstGeom prst="rect">
            <a:avLst/>
          </a:prstGeom>
          <a:solidFill>
            <a:srgbClr val="FFF8E1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86600" y="4480560"/>
            <a:ext cx="64008" cy="22402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4572000"/>
            <a:ext cx="446501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i="0">
                <a:solidFill>
                  <a:srgbClr val="333333"/>
                </a:solidFill>
                <a:latin typeface="Arial"/>
              </a:rPr>
              <a:t>Why it helps: 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Subcellular position (edge vs. lamella vs. cell body) is strongly encoded in the relative distances — a patch at the periphery has one very short ray; a central patch has long rays in all directions.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